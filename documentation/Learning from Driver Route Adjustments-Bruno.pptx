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m" ContentType="application/vnd.ms-excel.sheet.macroEnabled.12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3" r:id="rId10"/>
    <p:sldId id="264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1" autoAdjust="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07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0935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introduceren kort het project en kaderen het binnen route-optimalisatie. Belangrijk: focus ligt op proces en analyse, niet op een eindmodel.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benadrukken dat we met drie zijn gestart en bewust tijd hebben genomen om samen een goede structuur en manier van werken af te spreken.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GitHub was geen bijzaak maar een essentieel werkinstrument. Na wat iteraties hebben we samen een structuur gevonden die voor iedereen werkte.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Hier zijn we echt in de data gedoken. We onderzochten of task-ID’s betrouwbaar waren over tijd, wat cruciaal bleek voor verdere analyse.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Omdat ID’s niet globaal uniek waren, moesten we creatief maar correct afbakenen. We kozen daarom voor vergelijkbare routes binnen één dag.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Door routes te visualiseren kregen we snel inzicht in hoe chauffeurs routes aanpassen. Dit hielp om latere berekeningen beter te interpreteren.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Voor afstanden hebben we bewust de Haversine-afstand gebruikt, een standaard en correcte methode voor GPS-coördinaten.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Hier reflecteren we eerlijk op een fout. De Levenshtein-afstand werd fout toegepast door coördinaten als tekst te behandelen. Dit leverde een belangrijk leerpunt op rond datarepresentatie.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Deze slide vat het project samen op meta-niveau. We benadrukken dat data science een iteratief leerproces is, waarbij structuur, samenwerking en correcte aannames essentieel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Macro-Enabled_Worksheet.xlsm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500"/>
              <a:t>Learning from Driver Route Adjustments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r>
              <a:rPr lang="nl-BE" sz="1700"/>
              <a:t>Data science project rond route-optimalisatie</a:t>
            </a:r>
          </a:p>
          <a:p>
            <a:r>
              <a:rPr lang="nl-BE" sz="1700"/>
              <a:t>Analyse van manuele aanpassingen door chauffeurs</a:t>
            </a:r>
          </a:p>
          <a:p>
            <a:r>
              <a:rPr lang="nl-BE" sz="1700"/>
              <a:t>Focus op proces, data-analyse en samenwerking</a:t>
            </a:r>
          </a:p>
        </p:txBody>
      </p:sp>
      <p:pic>
        <p:nvPicPr>
          <p:cNvPr id="5" name="Afbeelding 4" descr="Afbeelding met kleding, persoon, computer, computer&#10;&#10;Door AI gegenereerde inhoud is mogelijk onjuist.">
            <a:extLst>
              <a:ext uri="{FF2B5EF4-FFF2-40B4-BE49-F238E27FC236}">
                <a16:creationId xmlns:a16="http://schemas.microsoft.com/office/drawing/2014/main" id="{6A991353-8544-12E8-B683-A23ED4CDE0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785" r="5664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9" y="3752849"/>
            <a:ext cx="2468166" cy="2452687"/>
          </a:xfrm>
        </p:spPr>
        <p:txBody>
          <a:bodyPr anchor="ctr">
            <a:normAutofit/>
          </a:bodyPr>
          <a:lstStyle/>
          <a:p>
            <a:r>
              <a:rPr lang="nl-BE" sz="2900"/>
              <a:t>Projectopstart &amp; samenwerking</a:t>
            </a:r>
          </a:p>
        </p:txBody>
      </p:sp>
      <p:pic>
        <p:nvPicPr>
          <p:cNvPr id="5" name="Afbeelding 4" descr="Afbeelding met overdekt, persoon, kleding, tekst&#10;&#10;Door AI gegenereerde inhoud is mogelijk onjuist.">
            <a:extLst>
              <a:ext uri="{FF2B5EF4-FFF2-40B4-BE49-F238E27FC236}">
                <a16:creationId xmlns:a16="http://schemas.microsoft.com/office/drawing/2014/main" id="{7E4119F8-ABBB-374E-630A-B8FC64A310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396" b="30810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67986" y="3752850"/>
            <a:ext cx="5614060" cy="2452687"/>
          </a:xfrm>
        </p:spPr>
        <p:txBody>
          <a:bodyPr anchor="ctr">
            <a:normAutofit/>
          </a:bodyPr>
          <a:lstStyle/>
          <a:p>
            <a:r>
              <a:rPr lang="nl-NL" sz="1600"/>
              <a:t>Team van drie personen</a:t>
            </a:r>
          </a:p>
          <a:p>
            <a:r>
              <a:rPr lang="nl-NL" sz="1600"/>
              <a:t>Gezamenlijke opzet van projectstructuur</a:t>
            </a:r>
          </a:p>
          <a:p>
            <a:r>
              <a:rPr lang="nl-NL" sz="1600"/>
              <a:t>Iteratief afgestemd tot een gedeelde en stabiele aanpak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BA513B0-82FF-4F41-8178-885375D1C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 descr="Afbeelding met tekst, plant, kamerplant, bloempot&#10;&#10;Door AI gegenereerde inhoud is mogelijk onjuist.">
            <a:extLst>
              <a:ext uri="{FF2B5EF4-FFF2-40B4-BE49-F238E27FC236}">
                <a16:creationId xmlns:a16="http://schemas.microsoft.com/office/drawing/2014/main" id="{D64319FF-8C95-1738-DCDA-F7F9D9592C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332" r="1" b="2433"/>
          <a:stretch>
            <a:fillRect/>
          </a:stretch>
        </p:blipFill>
        <p:spPr>
          <a:xfrm>
            <a:off x="20" y="10"/>
            <a:ext cx="9171076" cy="4666928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93DB8501-F9F2-4ACD-B56A-9019CD5006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2987478"/>
            <a:ext cx="9171095" cy="1828800"/>
            <a:chOff x="-305" y="2987478"/>
            <a:chExt cx="12188952" cy="18288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D03A94A-ADF5-4334-86B1-DBA5F70ACD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2987478"/>
              <a:ext cx="12188952" cy="1099712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85A18E1-CBE3-4BBD-B1B7-CDBCA685E0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99381"/>
              <a:ext cx="12188952" cy="902694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33EDCAA-1D6C-4710-9DA1-C7FC946D8E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01488"/>
              <a:ext cx="12188952" cy="641669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 useBgFill="1">
          <p:nvSpPr>
            <p:cNvPr id="16" name="Freeform: Shape 15">
              <a:extLst>
                <a:ext uri="{FF2B5EF4-FFF2-40B4-BE49-F238E27FC236}">
                  <a16:creationId xmlns:a16="http://schemas.microsoft.com/office/drawing/2014/main" id="{3916FBF2-1CC9-460D-A42B-FB77E515E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14750"/>
              <a:ext cx="12188952" cy="1201528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4551037"/>
            <a:ext cx="3766336" cy="1509931"/>
          </a:xfrm>
        </p:spPr>
        <p:txBody>
          <a:bodyPr>
            <a:normAutofit/>
          </a:bodyPr>
          <a:lstStyle/>
          <a:p>
            <a:r>
              <a:rPr lang="nl-BE" sz="3100">
                <a:solidFill>
                  <a:schemeClr val="tx2"/>
                </a:solidFill>
              </a:rPr>
              <a:t>GitHub als werkplatform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2685" y="4551037"/>
            <a:ext cx="3694808" cy="150993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nl-NL" sz="1600">
                <a:solidFill>
                  <a:schemeClr val="tx2"/>
                </a:solidFill>
              </a:rPr>
              <a:t>Centrale repository voor code, data en analyse</a:t>
            </a:r>
          </a:p>
          <a:p>
            <a:pPr>
              <a:lnSpc>
                <a:spcPct val="90000"/>
              </a:lnSpc>
            </a:pPr>
            <a:r>
              <a:rPr lang="nl-NL" sz="1600">
                <a:solidFill>
                  <a:schemeClr val="tx2"/>
                </a:solidFill>
              </a:rPr>
              <a:t>Duidelijke folderstructuur en versiebeheer</a:t>
            </a:r>
          </a:p>
          <a:p>
            <a:pPr>
              <a:lnSpc>
                <a:spcPct val="90000"/>
              </a:lnSpc>
            </a:pPr>
            <a:r>
              <a:rPr lang="nl-NL" sz="1600">
                <a:solidFill>
                  <a:schemeClr val="tx2"/>
                </a:solidFill>
              </a:rPr>
              <a:t>Ondersteuning van samenwerking en reproduceerbaarheid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 descr="Afbeelding met tekst, schermopname, plaque, kunst&#10;&#10;Door AI gegenereerde inhoud is mogelijk onjuist.">
            <a:extLst>
              <a:ext uri="{FF2B5EF4-FFF2-40B4-BE49-F238E27FC236}">
                <a16:creationId xmlns:a16="http://schemas.microsoft.com/office/drawing/2014/main" id="{134812A2-8BC9-FD15-E010-A7B47653DB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80" r="23732" b="-1"/>
          <a:stretch>
            <a:fillRect/>
          </a:stretch>
        </p:blipFill>
        <p:spPr>
          <a:xfrm>
            <a:off x="20" y="10"/>
            <a:ext cx="725221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843764" y="0"/>
            <a:ext cx="530023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48707" y="365125"/>
            <a:ext cx="2866642" cy="1899912"/>
          </a:xfrm>
        </p:spPr>
        <p:txBody>
          <a:bodyPr>
            <a:normAutofit/>
          </a:bodyPr>
          <a:lstStyle/>
          <a:p>
            <a:r>
              <a:rPr lang="nl-NL" sz="3500"/>
              <a:t>Analyse van coördinaten en ID’s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48707" y="2434201"/>
            <a:ext cx="2866642" cy="3742762"/>
          </a:xfrm>
        </p:spPr>
        <p:txBody>
          <a:bodyPr>
            <a:normAutofit/>
          </a:bodyPr>
          <a:lstStyle/>
          <a:p>
            <a:r>
              <a:rPr lang="nl-NL" sz="1700"/>
              <a:t>Oplijsten van latitude en longitude per task-ID</a:t>
            </a:r>
          </a:p>
          <a:p>
            <a:r>
              <a:rPr lang="nl-NL" sz="1700"/>
              <a:t>Analyse van uniciteit van ID’s doorheen de tijd</a:t>
            </a:r>
          </a:p>
          <a:p>
            <a:r>
              <a:rPr lang="nl-NL" sz="1700"/>
              <a:t>Vaststelling: ID’s uniek per dag, niet globaal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Afbakening van vergelijkbare routes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Selectie van eerste route van de dag</a:t>
            </a:r>
          </a:p>
          <a:p>
            <a:r>
              <a:rPr sz="1800"/>
              <a:t>Selectie van laatste route van de voormiddag</a:t>
            </a:r>
          </a:p>
          <a:p>
            <a:r>
              <a:rPr sz="1800"/>
              <a:t>Reconstructie van routes via GPS-coördinaten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Visualisatie van routegedrag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 err="1"/>
              <a:t>Plotten</a:t>
            </a:r>
            <a:r>
              <a:rPr sz="1800" dirty="0"/>
              <a:t> van routes op basis van GPS-</a:t>
            </a:r>
            <a:r>
              <a:rPr sz="1800" dirty="0" err="1"/>
              <a:t>punten</a:t>
            </a:r>
            <a:endParaRPr sz="1800" dirty="0"/>
          </a:p>
          <a:p>
            <a:r>
              <a:rPr sz="1800" dirty="0" err="1"/>
              <a:t>Visuele</a:t>
            </a:r>
            <a:r>
              <a:rPr sz="1800" dirty="0"/>
              <a:t> </a:t>
            </a:r>
            <a:r>
              <a:rPr sz="1800" dirty="0" err="1"/>
              <a:t>vergelijking</a:t>
            </a:r>
            <a:r>
              <a:rPr sz="1800" dirty="0"/>
              <a:t> van </a:t>
            </a:r>
            <a:r>
              <a:rPr sz="1800" dirty="0" err="1"/>
              <a:t>initiële</a:t>
            </a:r>
            <a:r>
              <a:rPr sz="1800" dirty="0"/>
              <a:t> </a:t>
            </a:r>
            <a:r>
              <a:rPr sz="1800" dirty="0" err="1"/>
              <a:t>en</a:t>
            </a:r>
            <a:r>
              <a:rPr sz="1800" dirty="0"/>
              <a:t> finale routes</a:t>
            </a:r>
          </a:p>
          <a:p>
            <a:r>
              <a:rPr sz="1800" dirty="0" err="1"/>
              <a:t>Ondersteuning</a:t>
            </a:r>
            <a:r>
              <a:rPr sz="1800" dirty="0"/>
              <a:t> van </a:t>
            </a:r>
            <a:r>
              <a:rPr sz="1800" dirty="0" err="1"/>
              <a:t>verdere</a:t>
            </a:r>
            <a:r>
              <a:rPr sz="1800" dirty="0"/>
              <a:t> </a:t>
            </a:r>
            <a:r>
              <a:rPr sz="1800" dirty="0" err="1"/>
              <a:t>kwantitatieve</a:t>
            </a:r>
            <a:r>
              <a:rPr sz="1800" dirty="0"/>
              <a:t> </a:t>
            </a:r>
            <a:r>
              <a:rPr sz="1800" dirty="0" err="1"/>
              <a:t>analyse</a:t>
            </a:r>
            <a:endParaRPr sz="1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180D742-D550-36AB-4FC8-24D7BC6B6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105" y="4990259"/>
            <a:ext cx="6163536" cy="16797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C0228A-7AFE-A3AA-3F1A-51651DADC3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067" y="2866995"/>
            <a:ext cx="6500307" cy="169408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573097-0E70-ABD7-CCCB-877DE7CD1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71" y="217155"/>
            <a:ext cx="8229600" cy="423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812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Vergelijking tussen routes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 err="1"/>
              <a:t>Analyse</a:t>
            </a:r>
            <a:r>
              <a:rPr sz="1800" dirty="0"/>
              <a:t> van </a:t>
            </a:r>
            <a:r>
              <a:rPr sz="1800" dirty="0" err="1"/>
              <a:t>volgordeverschillen</a:t>
            </a:r>
            <a:endParaRPr sz="1800" dirty="0"/>
          </a:p>
          <a:p>
            <a:r>
              <a:rPr sz="1800" dirty="0" err="1"/>
              <a:t>Detectie</a:t>
            </a:r>
            <a:r>
              <a:rPr sz="1800" dirty="0"/>
              <a:t> van </a:t>
            </a:r>
            <a:r>
              <a:rPr sz="1800" dirty="0" err="1"/>
              <a:t>ontbrekende</a:t>
            </a:r>
            <a:r>
              <a:rPr sz="1800" dirty="0"/>
              <a:t> of </a:t>
            </a:r>
            <a:r>
              <a:rPr sz="1800" dirty="0" err="1"/>
              <a:t>toegevoegde</a:t>
            </a:r>
            <a:r>
              <a:rPr sz="1800" dirty="0"/>
              <a:t> </a:t>
            </a:r>
            <a:r>
              <a:rPr sz="1800" dirty="0" err="1"/>
              <a:t>punten</a:t>
            </a:r>
            <a:endParaRPr sz="1800" dirty="0"/>
          </a:p>
          <a:p>
            <a:r>
              <a:rPr sz="1800" dirty="0" err="1"/>
              <a:t>Afstandsberekening</a:t>
            </a:r>
            <a:r>
              <a:rPr sz="1800" dirty="0"/>
              <a:t> via Haversine-</a:t>
            </a:r>
            <a:r>
              <a:rPr sz="1800" dirty="0" err="1"/>
              <a:t>afstand</a:t>
            </a:r>
            <a:r>
              <a:rPr sz="1800" dirty="0"/>
              <a:t> (GPS-correct)</a:t>
            </a:r>
            <a:endParaRPr lang="en-US" sz="1800" dirty="0"/>
          </a:p>
          <a:p>
            <a:r>
              <a:rPr lang="en-US" sz="1800" dirty="0" err="1"/>
              <a:t>Afstandsberekening</a:t>
            </a:r>
            <a:r>
              <a:rPr lang="en-US" sz="1800" dirty="0"/>
              <a:t> via </a:t>
            </a:r>
            <a:r>
              <a:rPr lang="en-US" sz="1800" dirty="0" err="1"/>
              <a:t>Levenshtein-afstand</a:t>
            </a:r>
            <a:endParaRPr lang="en-US" sz="1800" dirty="0"/>
          </a:p>
          <a:p>
            <a:endParaRPr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4D6D73-AA88-CB66-F11A-083676829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60" y="3282357"/>
            <a:ext cx="8618279" cy="25427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Reflectie &amp; leerproces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Experiment met </a:t>
            </a:r>
            <a:r>
              <a:rPr sz="1800" dirty="0" err="1"/>
              <a:t>Levenshtein-afstand</a:t>
            </a:r>
            <a:endParaRPr sz="1800" dirty="0"/>
          </a:p>
          <a:p>
            <a:r>
              <a:rPr sz="1800" dirty="0" err="1"/>
              <a:t>Foutieve</a:t>
            </a:r>
            <a:r>
              <a:rPr sz="1800" dirty="0"/>
              <a:t> </a:t>
            </a:r>
            <a:r>
              <a:rPr sz="1800" dirty="0" err="1"/>
              <a:t>representatie</a:t>
            </a:r>
            <a:r>
              <a:rPr sz="1800" dirty="0"/>
              <a:t>: </a:t>
            </a:r>
            <a:r>
              <a:rPr sz="1800" dirty="0" err="1"/>
              <a:t>coördinaten</a:t>
            </a:r>
            <a:r>
              <a:rPr sz="1800" dirty="0"/>
              <a:t> </a:t>
            </a:r>
            <a:r>
              <a:rPr sz="1800" dirty="0" err="1"/>
              <a:t>als</a:t>
            </a:r>
            <a:r>
              <a:rPr sz="1800" dirty="0"/>
              <a:t> string</a:t>
            </a:r>
          </a:p>
          <a:p>
            <a:r>
              <a:rPr sz="1800" dirty="0" err="1"/>
              <a:t>Inzicht</a:t>
            </a:r>
            <a:r>
              <a:rPr sz="1800" dirty="0"/>
              <a:t> in </a:t>
            </a:r>
            <a:r>
              <a:rPr sz="1800" dirty="0" err="1"/>
              <a:t>belang</a:t>
            </a:r>
            <a:r>
              <a:rPr sz="1800" dirty="0"/>
              <a:t> van </a:t>
            </a:r>
            <a:r>
              <a:rPr sz="1800" dirty="0" err="1"/>
              <a:t>correcte</a:t>
            </a:r>
            <a:r>
              <a:rPr sz="1800" dirty="0"/>
              <a:t> </a:t>
            </a:r>
            <a:r>
              <a:rPr sz="1800" dirty="0" err="1"/>
              <a:t>datarepresentatie</a:t>
            </a:r>
            <a:endParaRPr sz="1800" dirty="0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665AB95B-8A55-3297-3D51-A44EE4F62E3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80268197"/>
              </p:ext>
            </p:extLst>
          </p:nvPr>
        </p:nvGraphicFramePr>
        <p:xfrm>
          <a:off x="3773488" y="4129088"/>
          <a:ext cx="9525" cy="406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Macro-Enabled Worksheet" r:id="rId3" imgW="617114" imgH="249638855" progId="Excel.SheetMacroEnabled.12">
                  <p:embed/>
                </p:oleObj>
              </mc:Choice>
              <mc:Fallback>
                <p:oleObj name="Macro-Enabled Worksheet" r:id="rId3" imgW="617114" imgH="249638855" progId="Excel.SheetMacroEnabled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773488" y="4129088"/>
                        <a:ext cx="9525" cy="4064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9" y="3752849"/>
            <a:ext cx="2468166" cy="2452687"/>
          </a:xfrm>
        </p:spPr>
        <p:txBody>
          <a:bodyPr anchor="ctr">
            <a:normAutofit/>
          </a:bodyPr>
          <a:lstStyle/>
          <a:p>
            <a:r>
              <a:rPr lang="en-US" sz="3100"/>
              <a:t>Lessons learned in Data Science</a:t>
            </a:r>
          </a:p>
        </p:txBody>
      </p:sp>
      <p:pic>
        <p:nvPicPr>
          <p:cNvPr id="5" name="Afbeelding 4" descr="Afbeelding met tekst, persoon, bloempot, kamerplant&#10;&#10;Door AI gegenereerde inhoud is mogelijk onjuist.">
            <a:extLst>
              <a:ext uri="{FF2B5EF4-FFF2-40B4-BE49-F238E27FC236}">
                <a16:creationId xmlns:a16="http://schemas.microsoft.com/office/drawing/2014/main" id="{EBA52343-2AEA-111A-8563-CC6735A4DB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858" b="35348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67986" y="3752850"/>
            <a:ext cx="5614060" cy="2452687"/>
          </a:xfrm>
        </p:spPr>
        <p:txBody>
          <a:bodyPr anchor="ctr">
            <a:normAutofit/>
          </a:bodyPr>
          <a:lstStyle/>
          <a:p>
            <a:r>
              <a:rPr lang="nl-NL" sz="1600"/>
              <a:t>Een correcte probleem- en datarepresentatie is cruciaal</a:t>
            </a:r>
          </a:p>
          <a:p>
            <a:r>
              <a:rPr lang="nl-NL" sz="1600"/>
              <a:t>Structuur en versiebeheer zijn geen randzaken</a:t>
            </a:r>
          </a:p>
          <a:p>
            <a:r>
              <a:rPr lang="nl-NL" sz="1600"/>
              <a:t>Exploratie en fouten maken zijn inherent aan data science</a:t>
            </a:r>
          </a:p>
          <a:p>
            <a:r>
              <a:rPr lang="nl-NL" sz="1600"/>
              <a:t>Samenwerking en iteratie bepalen de kwaliteit van het traject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290083-bd2f-48a2-8ac5-09a524b17d15}" enabled="1" method="Privileged" siteId="{b9fec68c-c92d-461e-9a97-3d03a0f18b82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432</Words>
  <Application>Microsoft Office PowerPoint</Application>
  <PresentationFormat>On-screen Show (4:3)</PresentationFormat>
  <Paragraphs>47</Paragraphs>
  <Slides>10</Slides>
  <Notes>9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Office Theme</vt:lpstr>
      <vt:lpstr>Macro-Enabled Worksheet</vt:lpstr>
      <vt:lpstr>Learning from Driver Route Adjustments</vt:lpstr>
      <vt:lpstr>Projectopstart &amp; samenwerking</vt:lpstr>
      <vt:lpstr>GitHub als werkplatform</vt:lpstr>
      <vt:lpstr>Analyse van coördinaten en ID’s</vt:lpstr>
      <vt:lpstr>Afbakening van vergelijkbare routes</vt:lpstr>
      <vt:lpstr>Visualisatie van routegedrag</vt:lpstr>
      <vt:lpstr>PowerPoint Presentation</vt:lpstr>
      <vt:lpstr>Vergelijking tussen routes</vt:lpstr>
      <vt:lpstr>Reflectie &amp; leerproces</vt:lpstr>
      <vt:lpstr>Lessons learned in Data Science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Ghekiere, Bruno</dc:creator>
  <cp:keywords/>
  <dc:description>generated using python-pptx</dc:description>
  <cp:lastModifiedBy>Ghekiere, Bruno</cp:lastModifiedBy>
  <cp:revision>7</cp:revision>
  <dcterms:created xsi:type="dcterms:W3CDTF">2013-01-27T09:14:16Z</dcterms:created>
  <dcterms:modified xsi:type="dcterms:W3CDTF">2026-02-09T14:03:38Z</dcterms:modified>
  <cp:category/>
</cp:coreProperties>
</file>